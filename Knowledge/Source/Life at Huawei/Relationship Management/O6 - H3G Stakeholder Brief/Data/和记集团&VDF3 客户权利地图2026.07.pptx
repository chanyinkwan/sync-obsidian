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2910" r:id="rId2"/>
    <p:sldId id="214747580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>
        <p:scale>
          <a:sx n="63" d="100"/>
          <a:sy n="63" d="100"/>
        </p:scale>
        <p:origin x="19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FEDE9-C2D4-421A-81B8-12A8DF23330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E33FBB-D998-4BEF-AFC0-C899FD73C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9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k.linkedin.com/in/hakan-bozkurt-bb412868?trk=public_post-text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582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A66C2"/>
                </a:solidFill>
                <a:effectLst/>
                <a:latin typeface="-apple-system"/>
                <a:hlinkClick r:id="rId3"/>
              </a:rPr>
              <a:t>Hakan Bozkurt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598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404C-A015-497C-8401-C72EC8699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F75E1-B1D5-40BF-8024-6D03A0B0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91965-2990-4CE1-858E-CF5152F9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73479-DD5F-428B-AD19-130CCCDF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04C7F-3F02-4EDB-8A15-EB9D180E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5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ED38-0486-4D2A-A2AC-6CD83CC4D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0814-6872-4EAC-ADD8-361A23361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E927E-0225-434E-8238-DF4FF1D0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0BFDF-7055-47A8-BE03-695B5725C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A3D41-7584-4F02-BFC7-7FA15789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C90D-BE26-46AA-8F21-220ABED8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24B10-5A17-4080-8239-AD7A82DB3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632FB-E80D-4B45-968D-DFA465AF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B5348-8187-4340-AF29-51E3C6FD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51514-3F04-4742-81B2-FE98D958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2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8BC3-00B3-4385-B7C5-A737917F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87697-6E11-4CB4-9CB3-0E9A983D5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DA29F-9B77-41D4-88B4-42EE8D498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D75B0-2F53-4CDA-B022-F1B137154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9B463-C7F0-4F08-AE8F-63A1B0A4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4EBD0-5711-4743-9FAD-1741981C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1E449-D218-4102-9A10-4274A578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C7769-675A-4FDA-B7E2-1659DCAB1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44F26-F299-490F-B2D8-737B6A117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475D5-5B6A-4EFE-92D4-029A5C83E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04B8C5-0C0A-46D0-86F5-090985901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4599AB-E57D-4A4D-B3F9-470DB776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074B7C-0B46-46AD-93B5-6C689837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160B6-024B-4EF9-8A44-9E66B916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5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FFE8-4630-4021-A7B8-7C9623B6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B6B87-2434-4943-A0E3-B6BB7995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68BE8-2CE1-4B16-9D2A-8921AD54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444B5-C9B3-4BA1-9DF4-86C57DAA6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7820DF-270A-411F-8BC1-7B3FC0FF7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266A55-5B84-4FD6-9E08-5AEC8C38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A788B-1AD2-4CC7-8D2C-89AE3727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7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64314-3873-4D48-AB0B-8C818D7C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9B705-D266-42C2-A4DC-374951D7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4B1E4-9C90-4452-9D2E-53F6F8909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ECF68-3AF3-4EBA-8BB0-5C0CF397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0D132-8E68-46C0-B82C-EDAE7FA64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6EB05-63CE-40AA-A1D1-C460AC7F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2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4CDB-7EA2-44F8-AF4F-E62CC040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9A1A94-F55C-48D1-ABCC-84BA38B6E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7DFD7-BF41-4966-85B3-AEA2B776B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CA14D-B2D1-4D3A-AAB2-5C406C78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B8B74-02E2-4F5B-9128-EB1205B5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7E9A0-D418-4619-A242-2B4DFE08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3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14F0-2865-4C87-B370-61192872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84ACF-E5FE-44BB-8F87-A7951C115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3D57-9011-47A0-B20E-347B963CE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81A03-F96E-45CF-9F9B-3085AC61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F6D2B-DF8A-45F8-AA65-0EDF14F5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9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FF68CB-737F-48C9-B40C-C834C5A2C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4D7F8-2E73-4900-8AD4-977F89E71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5303B-D7B3-4012-B84E-97BFDE1F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85C99-B712-4086-9924-9F684F8B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4447D-66FD-47E0-99BE-C73D0EC2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7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B6B69-E0D1-41FE-9A72-F1BAB5AD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CFCB0-637A-4BE7-85DC-7925AEB7B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E8DC0-04CA-4848-91DE-B0DCCD3E0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0B674-F177-43A5-8DBD-127FEAA6E9E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3286B-7EA9-4052-8D0C-063E2F831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151E3-0E17-401F-A783-1A1C58BA6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B15C0-EB75-4F23-AE98-A4C81791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1993051C-2C27-4EBF-A814-4A955C198CD4}"/>
              </a:ext>
            </a:extLst>
          </p:cNvPr>
          <p:cNvSpPr/>
          <p:nvPr/>
        </p:nvSpPr>
        <p:spPr>
          <a:xfrm>
            <a:off x="673474" y="2071675"/>
            <a:ext cx="6269083" cy="4219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B6220AD-45B5-447A-B86E-FA591CA8DFED}"/>
              </a:ext>
            </a:extLst>
          </p:cNvPr>
          <p:cNvSpPr/>
          <p:nvPr/>
        </p:nvSpPr>
        <p:spPr>
          <a:xfrm>
            <a:off x="7038681" y="2079696"/>
            <a:ext cx="4491459" cy="42114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F585DA-04DE-4A65-B053-C76AA49C81EE}"/>
              </a:ext>
            </a:extLst>
          </p:cNvPr>
          <p:cNvSpPr/>
          <p:nvPr/>
        </p:nvSpPr>
        <p:spPr>
          <a:xfrm>
            <a:off x="673476" y="698149"/>
            <a:ext cx="10856652" cy="1184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r>
              <a:rPr lang="en-US" sz="1727" dirty="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533F09-508B-49EE-AEDC-F693BFCF53A9}"/>
              </a:ext>
            </a:extLst>
          </p:cNvPr>
          <p:cNvSpPr/>
          <p:nvPr/>
        </p:nvSpPr>
        <p:spPr>
          <a:xfrm>
            <a:off x="5586388" y="786513"/>
            <a:ext cx="1256669" cy="3457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C2AC63-46E1-4D30-8127-AA0DF751447E}"/>
              </a:ext>
            </a:extLst>
          </p:cNvPr>
          <p:cNvSpPr/>
          <p:nvPr/>
        </p:nvSpPr>
        <p:spPr>
          <a:xfrm>
            <a:off x="5395095" y="764561"/>
            <a:ext cx="1581420" cy="437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Chairman</a:t>
            </a: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Victor T K Li</a:t>
            </a:r>
            <a:endParaRPr lang="zh-CN" altLang="en-US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943684-D68C-4404-A33C-8D0F4D88A416}"/>
              </a:ext>
            </a:extLst>
          </p:cNvPr>
          <p:cNvSpPr/>
          <p:nvPr/>
        </p:nvSpPr>
        <p:spPr>
          <a:xfrm>
            <a:off x="3457239" y="987176"/>
            <a:ext cx="1471843" cy="4970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DA184-9CAB-4A59-8070-ED5A9B3EE3EB}"/>
              </a:ext>
            </a:extLst>
          </p:cNvPr>
          <p:cNvSpPr/>
          <p:nvPr/>
        </p:nvSpPr>
        <p:spPr>
          <a:xfrm>
            <a:off x="3439720" y="1032429"/>
            <a:ext cx="1489360" cy="437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Deputy Chairman</a:t>
            </a:r>
            <a:b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</a:b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Canning </a:t>
            </a:r>
            <a:r>
              <a:rPr lang="en-US" altLang="zh-CN" sz="1122" dirty="0" err="1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Fok</a:t>
            </a: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 Kin Ning</a:t>
            </a:r>
            <a:endParaRPr lang="zh-CN" altLang="en-US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415E2A-302C-4716-9C6B-40B9311CE043}"/>
              </a:ext>
            </a:extLst>
          </p:cNvPr>
          <p:cNvSpPr/>
          <p:nvPr/>
        </p:nvSpPr>
        <p:spPr>
          <a:xfrm>
            <a:off x="5308547" y="1344793"/>
            <a:ext cx="1940707" cy="4991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97748A-94D4-462D-ADE9-A968BE366C63}"/>
              </a:ext>
            </a:extLst>
          </p:cNvPr>
          <p:cNvSpPr/>
          <p:nvPr/>
        </p:nvSpPr>
        <p:spPr>
          <a:xfrm>
            <a:off x="5284370" y="1313271"/>
            <a:ext cx="2057167" cy="610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Group Co-Managing Director </a:t>
            </a:r>
          </a:p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&amp; Group Finance Director</a:t>
            </a: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Frank John</a:t>
            </a:r>
            <a:r>
              <a:rPr lang="zh-CN" altLang="en-US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 </a:t>
            </a:r>
            <a:r>
              <a:rPr lang="en-US" altLang="zh-CN" sz="1122" dirty="0" err="1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Sixt</a:t>
            </a:r>
            <a:endParaRPr lang="zh-CN" altLang="en-US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1408AB-43E8-475F-9B49-D6FE3FA60F7A}"/>
              </a:ext>
            </a:extLst>
          </p:cNvPr>
          <p:cNvSpPr/>
          <p:nvPr/>
        </p:nvSpPr>
        <p:spPr>
          <a:xfrm>
            <a:off x="934856" y="2430934"/>
            <a:ext cx="2029370" cy="8155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1B8661-7C00-4134-AEC4-55B642C8DBD0}"/>
              </a:ext>
            </a:extLst>
          </p:cNvPr>
          <p:cNvSpPr/>
          <p:nvPr/>
        </p:nvSpPr>
        <p:spPr>
          <a:xfrm>
            <a:off x="3020743" y="2423645"/>
            <a:ext cx="1774797" cy="8301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43BD89-FC2D-4824-9607-30C00DE1517E}"/>
              </a:ext>
            </a:extLst>
          </p:cNvPr>
          <p:cNvSpPr/>
          <p:nvPr/>
        </p:nvSpPr>
        <p:spPr>
          <a:xfrm>
            <a:off x="4841932" y="2416155"/>
            <a:ext cx="1891733" cy="845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2C9B70-FD71-484B-9DFF-AA1DF2316BAA}"/>
              </a:ext>
            </a:extLst>
          </p:cNvPr>
          <p:cNvSpPr/>
          <p:nvPr/>
        </p:nvSpPr>
        <p:spPr>
          <a:xfrm>
            <a:off x="5177771" y="3326240"/>
            <a:ext cx="722066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F8D347-1E4B-49D1-A0DA-47151697D81E}"/>
              </a:ext>
            </a:extLst>
          </p:cNvPr>
          <p:cNvSpPr/>
          <p:nvPr/>
        </p:nvSpPr>
        <p:spPr>
          <a:xfrm>
            <a:off x="5177771" y="3381309"/>
            <a:ext cx="722066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UK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50B153-AA7D-4618-9C19-61A338D78AF8}"/>
              </a:ext>
            </a:extLst>
          </p:cNvPr>
          <p:cNvSpPr/>
          <p:nvPr/>
        </p:nvSpPr>
        <p:spPr>
          <a:xfrm>
            <a:off x="5177770" y="3738517"/>
            <a:ext cx="722069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625471-F9C9-43D8-B278-E6F9FE653E3F}"/>
              </a:ext>
            </a:extLst>
          </p:cNvPr>
          <p:cNvSpPr/>
          <p:nvPr/>
        </p:nvSpPr>
        <p:spPr>
          <a:xfrm>
            <a:off x="5177768" y="3774733"/>
            <a:ext cx="722067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Ireland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408945-B1B4-4EFD-84D7-74A7A217C919}"/>
              </a:ext>
            </a:extLst>
          </p:cNvPr>
          <p:cNvSpPr/>
          <p:nvPr/>
        </p:nvSpPr>
        <p:spPr>
          <a:xfrm>
            <a:off x="5177769" y="4124584"/>
            <a:ext cx="722070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D86BC2-D520-4C2F-889B-A1600A4D8407}"/>
              </a:ext>
            </a:extLst>
          </p:cNvPr>
          <p:cNvSpPr/>
          <p:nvPr/>
        </p:nvSpPr>
        <p:spPr>
          <a:xfrm>
            <a:off x="5177770" y="4179654"/>
            <a:ext cx="722069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Italy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F16F7B-181A-416C-A6D6-BEBFF2BC6A43}"/>
              </a:ext>
            </a:extLst>
          </p:cNvPr>
          <p:cNvSpPr/>
          <p:nvPr/>
        </p:nvSpPr>
        <p:spPr>
          <a:xfrm>
            <a:off x="5177768" y="4527067"/>
            <a:ext cx="722070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CBD750-2BD1-4851-B300-C7303AEF7BB1}"/>
              </a:ext>
            </a:extLst>
          </p:cNvPr>
          <p:cNvSpPr/>
          <p:nvPr/>
        </p:nvSpPr>
        <p:spPr>
          <a:xfrm>
            <a:off x="5177768" y="4582136"/>
            <a:ext cx="766734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Denmark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6A4F79-7107-4091-B383-5AABDE1B7EA6}"/>
              </a:ext>
            </a:extLst>
          </p:cNvPr>
          <p:cNvSpPr/>
          <p:nvPr/>
        </p:nvSpPr>
        <p:spPr>
          <a:xfrm>
            <a:off x="5177768" y="4899730"/>
            <a:ext cx="722070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A5F31C-C829-4E9F-9F15-2A2AA13A5015}"/>
              </a:ext>
            </a:extLst>
          </p:cNvPr>
          <p:cNvSpPr/>
          <p:nvPr/>
        </p:nvSpPr>
        <p:spPr>
          <a:xfrm>
            <a:off x="5177767" y="4954798"/>
            <a:ext cx="722073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Sweden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E65D64-D5F8-41F8-B68D-7E54B33C18D3}"/>
              </a:ext>
            </a:extLst>
          </p:cNvPr>
          <p:cNvSpPr/>
          <p:nvPr/>
        </p:nvSpPr>
        <p:spPr>
          <a:xfrm>
            <a:off x="5177768" y="5256937"/>
            <a:ext cx="722070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BA531E-84C7-4DA7-8A5B-340FED41ACDF}"/>
              </a:ext>
            </a:extLst>
          </p:cNvPr>
          <p:cNvSpPr/>
          <p:nvPr/>
        </p:nvSpPr>
        <p:spPr>
          <a:xfrm>
            <a:off x="5177767" y="5312006"/>
            <a:ext cx="722073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Austria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25A8A24-0104-4CFB-82AA-CE86528D4EF5}"/>
              </a:ext>
            </a:extLst>
          </p:cNvPr>
          <p:cNvCxnSpPr>
            <a:cxnSpLocks/>
          </p:cNvCxnSpPr>
          <p:nvPr/>
        </p:nvCxnSpPr>
        <p:spPr>
          <a:xfrm>
            <a:off x="4013446" y="1923788"/>
            <a:ext cx="5224944" cy="735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35F4E2-71DC-4A76-A890-E0DAF92B89F0}"/>
              </a:ext>
            </a:extLst>
          </p:cNvPr>
          <p:cNvCxnSpPr>
            <a:cxnSpLocks/>
          </p:cNvCxnSpPr>
          <p:nvPr/>
        </p:nvCxnSpPr>
        <p:spPr>
          <a:xfrm>
            <a:off x="6232899" y="1839946"/>
            <a:ext cx="0" cy="8743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E4B3D1B-8CF2-4EEB-979D-936B7ECED0C7}"/>
              </a:ext>
            </a:extLst>
          </p:cNvPr>
          <p:cNvCxnSpPr>
            <a:cxnSpLocks/>
          </p:cNvCxnSpPr>
          <p:nvPr/>
        </p:nvCxnSpPr>
        <p:spPr>
          <a:xfrm>
            <a:off x="4016470" y="1928005"/>
            <a:ext cx="0" cy="48581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D3588B1-2903-46B5-A074-8D400432E43E}"/>
              </a:ext>
            </a:extLst>
          </p:cNvPr>
          <p:cNvCxnSpPr>
            <a:cxnSpLocks/>
          </p:cNvCxnSpPr>
          <p:nvPr/>
        </p:nvCxnSpPr>
        <p:spPr>
          <a:xfrm>
            <a:off x="4980733" y="3253826"/>
            <a:ext cx="0" cy="215370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976A420-ABC7-4BAF-88CF-FA9FAB26EC78}"/>
              </a:ext>
            </a:extLst>
          </p:cNvPr>
          <p:cNvCxnSpPr>
            <a:cxnSpLocks/>
          </p:cNvCxnSpPr>
          <p:nvPr/>
        </p:nvCxnSpPr>
        <p:spPr>
          <a:xfrm flipV="1">
            <a:off x="4980738" y="3475224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F808EB8-0F29-4D18-97D2-9039029949CA}"/>
              </a:ext>
            </a:extLst>
          </p:cNvPr>
          <p:cNvCxnSpPr>
            <a:cxnSpLocks/>
          </p:cNvCxnSpPr>
          <p:nvPr/>
        </p:nvCxnSpPr>
        <p:spPr>
          <a:xfrm flipV="1">
            <a:off x="4980735" y="3913819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F6FFE6F-2029-41E4-97AE-74AA087F356D}"/>
              </a:ext>
            </a:extLst>
          </p:cNvPr>
          <p:cNvCxnSpPr>
            <a:cxnSpLocks/>
          </p:cNvCxnSpPr>
          <p:nvPr/>
        </p:nvCxnSpPr>
        <p:spPr>
          <a:xfrm flipV="1">
            <a:off x="4980734" y="4285917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F0F62FC-2EDA-4BAD-8DF6-F71F7672C583}"/>
              </a:ext>
            </a:extLst>
          </p:cNvPr>
          <p:cNvCxnSpPr>
            <a:cxnSpLocks/>
          </p:cNvCxnSpPr>
          <p:nvPr/>
        </p:nvCxnSpPr>
        <p:spPr>
          <a:xfrm flipV="1">
            <a:off x="4980732" y="4689955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16E095-CB71-469D-A9C3-D757EDAAE187}"/>
              </a:ext>
            </a:extLst>
          </p:cNvPr>
          <p:cNvCxnSpPr>
            <a:cxnSpLocks/>
          </p:cNvCxnSpPr>
          <p:nvPr/>
        </p:nvCxnSpPr>
        <p:spPr>
          <a:xfrm flipV="1">
            <a:off x="4980732" y="5063722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B55913B-1948-46FB-959A-8BE9C92196DB}"/>
              </a:ext>
            </a:extLst>
          </p:cNvPr>
          <p:cNvCxnSpPr>
            <a:cxnSpLocks/>
          </p:cNvCxnSpPr>
          <p:nvPr/>
        </p:nvCxnSpPr>
        <p:spPr>
          <a:xfrm flipV="1">
            <a:off x="4980732" y="5407529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4FA8D382-F5B3-48E7-B082-06A547EF7ECC}"/>
              </a:ext>
            </a:extLst>
          </p:cNvPr>
          <p:cNvSpPr/>
          <p:nvPr/>
        </p:nvSpPr>
        <p:spPr>
          <a:xfrm>
            <a:off x="1620642" y="3375001"/>
            <a:ext cx="722066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51D06C1-B939-4084-BB27-72BEFCFD40B3}"/>
              </a:ext>
            </a:extLst>
          </p:cNvPr>
          <p:cNvSpPr/>
          <p:nvPr/>
        </p:nvSpPr>
        <p:spPr>
          <a:xfrm>
            <a:off x="1561497" y="3407102"/>
            <a:ext cx="844782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Hong Kong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D701F05-DC51-4481-B2DA-0FF99F0C27B1}"/>
              </a:ext>
            </a:extLst>
          </p:cNvPr>
          <p:cNvSpPr/>
          <p:nvPr/>
        </p:nvSpPr>
        <p:spPr>
          <a:xfrm>
            <a:off x="3544880" y="3411817"/>
            <a:ext cx="722069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8B1A168-651E-457C-B638-6D7BB17BDE9D}"/>
              </a:ext>
            </a:extLst>
          </p:cNvPr>
          <p:cNvSpPr/>
          <p:nvPr/>
        </p:nvSpPr>
        <p:spPr>
          <a:xfrm>
            <a:off x="3544878" y="3448032"/>
            <a:ext cx="722067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Vietnam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4066DB0-B758-478E-99D0-92955C47C426}"/>
              </a:ext>
            </a:extLst>
          </p:cNvPr>
          <p:cNvSpPr/>
          <p:nvPr/>
        </p:nvSpPr>
        <p:spPr>
          <a:xfrm>
            <a:off x="3544879" y="3797888"/>
            <a:ext cx="722070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DB1207-FDCF-43D9-AE79-2318DF02D29A}"/>
              </a:ext>
            </a:extLst>
          </p:cNvPr>
          <p:cNvSpPr/>
          <p:nvPr/>
        </p:nvSpPr>
        <p:spPr>
          <a:xfrm>
            <a:off x="3544880" y="3852954"/>
            <a:ext cx="722069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Sri Lanka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A103C2F-A382-4289-B960-BA2AFBC1EFCD}"/>
              </a:ext>
            </a:extLst>
          </p:cNvPr>
          <p:cNvSpPr/>
          <p:nvPr/>
        </p:nvSpPr>
        <p:spPr>
          <a:xfrm>
            <a:off x="3544878" y="4200367"/>
            <a:ext cx="722070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58BE78E-4920-4F10-944B-FE6CF2EC71EE}"/>
              </a:ext>
            </a:extLst>
          </p:cNvPr>
          <p:cNvSpPr/>
          <p:nvPr/>
        </p:nvSpPr>
        <p:spPr>
          <a:xfrm>
            <a:off x="3521910" y="4255436"/>
            <a:ext cx="767490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Indonesia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07ADD35-3894-4857-B5A8-15508C3CD744}"/>
              </a:ext>
            </a:extLst>
          </p:cNvPr>
          <p:cNvCxnSpPr>
            <a:cxnSpLocks/>
          </p:cNvCxnSpPr>
          <p:nvPr/>
        </p:nvCxnSpPr>
        <p:spPr>
          <a:xfrm flipV="1">
            <a:off x="1442191" y="3538463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EF7561D-4545-4538-A21F-5B993FD6187E}"/>
              </a:ext>
            </a:extLst>
          </p:cNvPr>
          <p:cNvCxnSpPr>
            <a:cxnSpLocks/>
          </p:cNvCxnSpPr>
          <p:nvPr/>
        </p:nvCxnSpPr>
        <p:spPr>
          <a:xfrm flipV="1">
            <a:off x="3347843" y="3587121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9BD15B4-60BC-428A-B598-29D987819386}"/>
              </a:ext>
            </a:extLst>
          </p:cNvPr>
          <p:cNvCxnSpPr>
            <a:cxnSpLocks/>
          </p:cNvCxnSpPr>
          <p:nvPr/>
        </p:nvCxnSpPr>
        <p:spPr>
          <a:xfrm flipV="1">
            <a:off x="3347843" y="3959217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19AE7FE-1B16-4AFC-83A6-FA329BC6D2FE}"/>
              </a:ext>
            </a:extLst>
          </p:cNvPr>
          <p:cNvCxnSpPr>
            <a:cxnSpLocks/>
          </p:cNvCxnSpPr>
          <p:nvPr/>
        </p:nvCxnSpPr>
        <p:spPr>
          <a:xfrm flipV="1">
            <a:off x="3347842" y="4363255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976B471-0D20-499F-BBCC-8AB6DC5E75D6}"/>
              </a:ext>
            </a:extLst>
          </p:cNvPr>
          <p:cNvCxnSpPr>
            <a:cxnSpLocks/>
          </p:cNvCxnSpPr>
          <p:nvPr/>
        </p:nvCxnSpPr>
        <p:spPr>
          <a:xfrm>
            <a:off x="3347840" y="3253828"/>
            <a:ext cx="2" cy="110943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0AAE0E68-CFF1-463E-9C47-6CEC25057F09}"/>
              </a:ext>
            </a:extLst>
          </p:cNvPr>
          <p:cNvSpPr/>
          <p:nvPr/>
        </p:nvSpPr>
        <p:spPr>
          <a:xfrm>
            <a:off x="8111417" y="2418653"/>
            <a:ext cx="2178494" cy="8376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E844F9-E819-48BC-A44D-F34C4807CB32}"/>
              </a:ext>
            </a:extLst>
          </p:cNvPr>
          <p:cNvSpPr/>
          <p:nvPr/>
        </p:nvSpPr>
        <p:spPr>
          <a:xfrm>
            <a:off x="8149143" y="2449392"/>
            <a:ext cx="2178493" cy="78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sz="1122" b="1" dirty="0">
                <a:solidFill>
                  <a:srgbClr val="C00000"/>
                </a:solidFill>
                <a:latin typeface="Gotham"/>
              </a:rPr>
              <a:t>CK Hutchison Innovations Opportunities Development* </a:t>
            </a:r>
          </a:p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CEO</a:t>
            </a: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Joe Parker</a:t>
            </a:r>
            <a:endParaRPr lang="zh-CN" altLang="en-US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C9491A8-76E9-4B80-8B48-D769E2047B24}"/>
              </a:ext>
            </a:extLst>
          </p:cNvPr>
          <p:cNvCxnSpPr>
            <a:cxnSpLocks/>
          </p:cNvCxnSpPr>
          <p:nvPr/>
        </p:nvCxnSpPr>
        <p:spPr>
          <a:xfrm>
            <a:off x="9238384" y="3246498"/>
            <a:ext cx="0" cy="29196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C62D8DB-BCE3-465A-8382-5EAEC1D4DEE0}"/>
              </a:ext>
            </a:extLst>
          </p:cNvPr>
          <p:cNvCxnSpPr>
            <a:cxnSpLocks/>
          </p:cNvCxnSpPr>
          <p:nvPr/>
        </p:nvCxnSpPr>
        <p:spPr>
          <a:xfrm>
            <a:off x="7868046" y="3547379"/>
            <a:ext cx="2321255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1F4AE92-C786-4D39-9418-9F8AB547D90C}"/>
              </a:ext>
            </a:extLst>
          </p:cNvPr>
          <p:cNvCxnSpPr>
            <a:cxnSpLocks/>
          </p:cNvCxnSpPr>
          <p:nvPr/>
        </p:nvCxnSpPr>
        <p:spPr>
          <a:xfrm>
            <a:off x="7868044" y="2616725"/>
            <a:ext cx="0" cy="137784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9189484-A3D5-4A9D-9987-69791B7B9195}"/>
              </a:ext>
            </a:extLst>
          </p:cNvPr>
          <p:cNvSpPr/>
          <p:nvPr/>
        </p:nvSpPr>
        <p:spPr>
          <a:xfrm>
            <a:off x="7445627" y="3797903"/>
            <a:ext cx="1471843" cy="6593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BC4285C-0BE8-4E7B-833E-6C85B02C28D5}"/>
              </a:ext>
            </a:extLst>
          </p:cNvPr>
          <p:cNvSpPr/>
          <p:nvPr/>
        </p:nvSpPr>
        <p:spPr>
          <a:xfrm>
            <a:off x="7400962" y="3850021"/>
            <a:ext cx="1471833" cy="610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sz="1122" b="1" dirty="0">
                <a:solidFill>
                  <a:prstClr val="black"/>
                </a:solidFill>
                <a:latin typeface="Gotham"/>
              </a:rPr>
              <a:t>Global Director of </a:t>
            </a:r>
          </a:p>
          <a:p>
            <a:pPr algn="ctr" defTabSz="380833">
              <a:defRPr/>
            </a:pPr>
            <a:r>
              <a:rPr lang="en-US" sz="1122" b="1" dirty="0">
                <a:solidFill>
                  <a:prstClr val="black"/>
                </a:solidFill>
                <a:latin typeface="Gotham"/>
              </a:rPr>
              <a:t>Digital consumer P&amp;S</a:t>
            </a: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Francesco </a:t>
            </a:r>
            <a:r>
              <a:rPr lang="en-US" altLang="zh-CN" sz="1122" dirty="0" err="1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Zampini</a:t>
            </a:r>
            <a:endParaRPr lang="en-US" altLang="zh-CN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7A0B76F-60FF-4C20-8120-DB2E4CB6F443}"/>
              </a:ext>
            </a:extLst>
          </p:cNvPr>
          <p:cNvSpPr/>
          <p:nvPr/>
        </p:nvSpPr>
        <p:spPr>
          <a:xfrm>
            <a:off x="7445627" y="4669173"/>
            <a:ext cx="1471843" cy="6593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522FF23-AB48-4661-BFF8-2B148208000A}"/>
              </a:ext>
            </a:extLst>
          </p:cNvPr>
          <p:cNvSpPr/>
          <p:nvPr/>
        </p:nvSpPr>
        <p:spPr>
          <a:xfrm>
            <a:off x="7400962" y="4721290"/>
            <a:ext cx="1471833" cy="610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sz="1122" b="1" dirty="0">
                <a:solidFill>
                  <a:prstClr val="black"/>
                </a:solidFill>
                <a:latin typeface="Gotham"/>
              </a:rPr>
              <a:t>Head of Devices and Hardware Portfolio</a:t>
            </a: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Marlene </a:t>
            </a:r>
            <a:r>
              <a:rPr lang="en-US" altLang="zh-CN" sz="1122" dirty="0" err="1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Fantini</a:t>
            </a:r>
            <a:endParaRPr lang="en-US" altLang="zh-CN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85AE473-6BF2-4356-BAEE-862672E5F44E}"/>
              </a:ext>
            </a:extLst>
          </p:cNvPr>
          <p:cNvCxnSpPr>
            <a:cxnSpLocks/>
          </p:cNvCxnSpPr>
          <p:nvPr/>
        </p:nvCxnSpPr>
        <p:spPr>
          <a:xfrm>
            <a:off x="10184844" y="3551118"/>
            <a:ext cx="0" cy="2989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005FBC2-D8F1-4B20-A2F6-66BA81ADC85C}"/>
              </a:ext>
            </a:extLst>
          </p:cNvPr>
          <p:cNvCxnSpPr>
            <a:cxnSpLocks/>
          </p:cNvCxnSpPr>
          <p:nvPr/>
        </p:nvCxnSpPr>
        <p:spPr>
          <a:xfrm>
            <a:off x="8040463" y="4457268"/>
            <a:ext cx="0" cy="21190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A167320-73B0-48B8-99D9-F9F10872BD28}"/>
              </a:ext>
            </a:extLst>
          </p:cNvPr>
          <p:cNvSpPr/>
          <p:nvPr/>
        </p:nvSpPr>
        <p:spPr>
          <a:xfrm>
            <a:off x="9311535" y="3837875"/>
            <a:ext cx="1771016" cy="6193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65DD87D-5BE2-4037-AEEE-DE2FA99C83BE}"/>
              </a:ext>
            </a:extLst>
          </p:cNvPr>
          <p:cNvSpPr/>
          <p:nvPr/>
        </p:nvSpPr>
        <p:spPr>
          <a:xfrm>
            <a:off x="9321672" y="3942512"/>
            <a:ext cx="1726344" cy="437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sz="1122" b="1" dirty="0">
                <a:solidFill>
                  <a:prstClr val="black"/>
                </a:solidFill>
                <a:latin typeface="Gotham"/>
              </a:rPr>
              <a:t>Global Technical Director</a:t>
            </a: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Agostino </a:t>
            </a:r>
            <a:r>
              <a:rPr lang="en-US" altLang="zh-CN" sz="1122" dirty="0" err="1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Ruberto</a:t>
            </a:r>
            <a:endParaRPr lang="en-US" altLang="zh-CN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A1E0FAF-D258-405C-AFAC-4B23D7DD44A4}"/>
              </a:ext>
            </a:extLst>
          </p:cNvPr>
          <p:cNvSpPr/>
          <p:nvPr/>
        </p:nvSpPr>
        <p:spPr>
          <a:xfrm>
            <a:off x="7248591" y="3695210"/>
            <a:ext cx="3966162" cy="244433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58ACB8C-E1EE-422B-BAF0-B15BDCCC84D3}"/>
              </a:ext>
            </a:extLst>
          </p:cNvPr>
          <p:cNvSpPr/>
          <p:nvPr/>
        </p:nvSpPr>
        <p:spPr>
          <a:xfrm>
            <a:off x="7023977" y="6318740"/>
            <a:ext cx="4224086" cy="387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80833">
              <a:defRPr/>
            </a:pPr>
            <a:r>
              <a:rPr lang="en-US" sz="960" dirty="0">
                <a:solidFill>
                  <a:prstClr val="black"/>
                </a:solidFill>
                <a:latin typeface="Calibri" panose="020F0502020204030204"/>
              </a:rPr>
              <a:t>*CK Hutchison Innovations Opportunities Development：</a:t>
            </a:r>
          </a:p>
          <a:p>
            <a:pPr defTabSz="380833">
              <a:defRPr/>
            </a:pPr>
            <a:r>
              <a:rPr lang="zh-CN" altLang="en-US" sz="96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聚焦全球移动通信业务创新，包括企业服务、</a:t>
            </a:r>
            <a:r>
              <a:rPr lang="en-US" sz="960" dirty="0" err="1">
                <a:solidFill>
                  <a:prstClr val="black"/>
                </a:solidFill>
                <a:latin typeface="Calibri" panose="020F0502020204030204"/>
              </a:rPr>
              <a:t>IoT、MVNO</a:t>
            </a:r>
            <a:r>
              <a:rPr lang="en-US" sz="960" dirty="0">
                <a:solidFill>
                  <a:prstClr val="black"/>
                </a:solidFill>
                <a:latin typeface="Calibri" panose="020F0502020204030204"/>
              </a:rPr>
              <a:t>、</a:t>
            </a:r>
            <a:r>
              <a:rPr lang="zh-CN" altLang="en-US" sz="96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数据分析等业务</a:t>
            </a:r>
            <a:endParaRPr lang="en-US" sz="96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7679185-4FFB-42F6-8894-FAB99B63C935}"/>
              </a:ext>
            </a:extLst>
          </p:cNvPr>
          <p:cNvSpPr txBox="1"/>
          <p:nvPr/>
        </p:nvSpPr>
        <p:spPr>
          <a:xfrm>
            <a:off x="668307" y="178239"/>
            <a:ext cx="4297728" cy="3998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en-US"/>
            </a:defPPr>
            <a:lvl1pPr indent="0" defTabSz="913668">
              <a:lnSpc>
                <a:spcPct val="100000"/>
              </a:lnSpc>
              <a:spcBef>
                <a:spcPts val="0"/>
              </a:spcBef>
              <a:buFontTx/>
              <a:buNone/>
              <a:defRPr sz="1999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 defTabSz="914034">
              <a:lnSpc>
                <a:spcPct val="90000"/>
              </a:lnSpc>
              <a:spcBef>
                <a:spcPts val="500"/>
              </a:spcBef>
              <a:buFontTx/>
              <a:buNone/>
              <a:defRPr sz="259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87323" indent="0" algn="ctr" defTabSz="914034">
              <a:lnSpc>
                <a:spcPct val="90000"/>
              </a:lnSpc>
              <a:spcBef>
                <a:spcPts val="500"/>
              </a:spcBef>
              <a:buFontTx/>
              <a:buNone/>
              <a:defRPr sz="233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80986" indent="0" algn="ctr" defTabSz="914034">
              <a:lnSpc>
                <a:spcPct val="90000"/>
              </a:lnSpc>
              <a:spcBef>
                <a:spcPts val="500"/>
              </a:spcBef>
              <a:buFontTx/>
              <a:buNone/>
              <a:defRPr sz="2078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74648" indent="0" algn="ctr" defTabSz="914034">
              <a:lnSpc>
                <a:spcPct val="90000"/>
              </a:lnSpc>
              <a:spcBef>
                <a:spcPts val="500"/>
              </a:spcBef>
              <a:buFontTx/>
              <a:buNone/>
              <a:defRPr sz="207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68309" indent="0" algn="ctr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6pPr>
            <a:lvl7pPr marL="3561971" indent="0" algn="ctr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7pPr>
            <a:lvl8pPr marL="4155634" indent="0" algn="ctr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8pPr>
            <a:lvl9pPr marL="4749295" indent="0" algn="ctr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9pPr>
          </a:lstStyle>
          <a:p>
            <a:pPr defTabSz="913303">
              <a:defRPr/>
            </a:pPr>
            <a:r>
              <a:rPr lang="zh-CN" altLang="en-US" sz="2399" dirty="0"/>
              <a:t>和记客户权力地图</a:t>
            </a:r>
            <a:endParaRPr lang="en-US" sz="2399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A52F6F2-A4B9-4387-B879-95CB6786CD44}"/>
              </a:ext>
            </a:extLst>
          </p:cNvPr>
          <p:cNvCxnSpPr>
            <a:cxnSpLocks/>
          </p:cNvCxnSpPr>
          <p:nvPr/>
        </p:nvCxnSpPr>
        <p:spPr>
          <a:xfrm>
            <a:off x="6227646" y="1138233"/>
            <a:ext cx="0" cy="20655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E8C86FD-4714-404F-88A2-8A99D66598C7}"/>
              </a:ext>
            </a:extLst>
          </p:cNvPr>
          <p:cNvCxnSpPr>
            <a:cxnSpLocks/>
          </p:cNvCxnSpPr>
          <p:nvPr/>
        </p:nvCxnSpPr>
        <p:spPr>
          <a:xfrm>
            <a:off x="4920787" y="1234034"/>
            <a:ext cx="1307142" cy="677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9D2D190-DF0C-4A17-AC7C-8586D01FC981}"/>
              </a:ext>
            </a:extLst>
          </p:cNvPr>
          <p:cNvCxnSpPr>
            <a:cxnSpLocks/>
          </p:cNvCxnSpPr>
          <p:nvPr/>
        </p:nvCxnSpPr>
        <p:spPr>
          <a:xfrm>
            <a:off x="4020208" y="1490150"/>
            <a:ext cx="0" cy="431831"/>
          </a:xfrm>
          <a:prstGeom prst="line">
            <a:avLst/>
          </a:prstGeom>
          <a:ln w="9525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21F655B-3733-4C52-B9F4-60CBD1FDC0FC}"/>
              </a:ext>
            </a:extLst>
          </p:cNvPr>
          <p:cNvCxnSpPr>
            <a:cxnSpLocks/>
          </p:cNvCxnSpPr>
          <p:nvPr/>
        </p:nvCxnSpPr>
        <p:spPr>
          <a:xfrm>
            <a:off x="1442178" y="3256559"/>
            <a:ext cx="0" cy="66049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538D68C3-F1E6-4DF3-970B-A180BA999075}"/>
              </a:ext>
            </a:extLst>
          </p:cNvPr>
          <p:cNvSpPr/>
          <p:nvPr/>
        </p:nvSpPr>
        <p:spPr>
          <a:xfrm>
            <a:off x="1634604" y="3768069"/>
            <a:ext cx="722066" cy="301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1E401CA-70B0-48C8-A72E-56EA05E390EC}"/>
              </a:ext>
            </a:extLst>
          </p:cNvPr>
          <p:cNvSpPr/>
          <p:nvPr/>
        </p:nvSpPr>
        <p:spPr>
          <a:xfrm>
            <a:off x="1634602" y="3823138"/>
            <a:ext cx="722066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Macau</a:t>
            </a:r>
            <a:endParaRPr lang="zh-CN" altLang="en-US" sz="1122" b="1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39A8CEE-C02F-4633-9F47-A7984E2D4B3F}"/>
              </a:ext>
            </a:extLst>
          </p:cNvPr>
          <p:cNvCxnSpPr>
            <a:cxnSpLocks/>
          </p:cNvCxnSpPr>
          <p:nvPr/>
        </p:nvCxnSpPr>
        <p:spPr>
          <a:xfrm flipV="1">
            <a:off x="1437569" y="3917052"/>
            <a:ext cx="197034" cy="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0BE292D-65AB-4DED-AEC2-840B23E20C46}"/>
              </a:ext>
            </a:extLst>
          </p:cNvPr>
          <p:cNvSpPr/>
          <p:nvPr/>
        </p:nvSpPr>
        <p:spPr>
          <a:xfrm>
            <a:off x="9085516" y="698993"/>
            <a:ext cx="2444609" cy="39995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0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CK Hutchison Holdings Limited</a:t>
            </a:r>
          </a:p>
          <a:p>
            <a:pPr algn="ctr" defTabSz="380833"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长江和记实业有限公司</a:t>
            </a:r>
            <a:endParaRPr lang="en-US" sz="10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3E5DFF4-EC4F-4D61-8879-4E3792C5BB9B}"/>
              </a:ext>
            </a:extLst>
          </p:cNvPr>
          <p:cNvSpPr/>
          <p:nvPr/>
        </p:nvSpPr>
        <p:spPr>
          <a:xfrm>
            <a:off x="4841932" y="2473557"/>
            <a:ext cx="1891734" cy="78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srgbClr val="C00000"/>
                </a:solidFill>
                <a:latin typeface="Gotham"/>
                <a:ea typeface="等线" panose="02010600030101010101" pitchFamily="2" charset="-122"/>
              </a:rPr>
              <a:t>CK Hutchison Group Telecom Holdings Limited</a:t>
            </a:r>
          </a:p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Director</a:t>
            </a: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Dennis Lui</a:t>
            </a:r>
            <a:endParaRPr lang="zh-CN" altLang="en-US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BB09B2-3490-4B66-93D3-FBBC5930937B}"/>
              </a:ext>
            </a:extLst>
          </p:cNvPr>
          <p:cNvSpPr/>
          <p:nvPr/>
        </p:nvSpPr>
        <p:spPr>
          <a:xfrm>
            <a:off x="2940048" y="2455216"/>
            <a:ext cx="1925908" cy="78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sz="1122" b="1" dirty="0">
                <a:solidFill>
                  <a:srgbClr val="C00000"/>
                </a:solidFill>
                <a:latin typeface="Calibri" panose="020F0502020204030204"/>
              </a:rPr>
              <a:t>Hutchison Asia Telecommunications Limited</a:t>
            </a:r>
          </a:p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Group Managing Director</a:t>
            </a:r>
            <a:endParaRPr lang="en-US" sz="1122" b="1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Dennis Lui</a:t>
            </a:r>
            <a:endParaRPr lang="zh-CN" altLang="en-US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209F090-CB57-4C19-AEB1-43849ADF11A3}"/>
              </a:ext>
            </a:extLst>
          </p:cNvPr>
          <p:cNvSpPr/>
          <p:nvPr/>
        </p:nvSpPr>
        <p:spPr>
          <a:xfrm>
            <a:off x="862276" y="2455216"/>
            <a:ext cx="2109754" cy="78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srgbClr val="C00000"/>
                </a:solidFill>
                <a:latin typeface="Gotham"/>
                <a:ea typeface="等线" panose="02010600030101010101" pitchFamily="2" charset="-122"/>
              </a:rPr>
              <a:t>Hutchison Telecommunications Hong Kong Holdings Limited</a:t>
            </a:r>
          </a:p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Executive Deputy Chairman</a:t>
            </a:r>
          </a:p>
          <a:p>
            <a:pPr algn="ctr" defTabSz="380833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Dennis Lui</a:t>
            </a:r>
            <a:endParaRPr lang="zh-CN" altLang="en-US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DC80409-1155-40A6-A641-6052D7CDE711}"/>
              </a:ext>
            </a:extLst>
          </p:cNvPr>
          <p:cNvCxnSpPr>
            <a:cxnSpLocks/>
          </p:cNvCxnSpPr>
          <p:nvPr/>
        </p:nvCxnSpPr>
        <p:spPr>
          <a:xfrm>
            <a:off x="9238384" y="1932748"/>
            <a:ext cx="0" cy="47981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7FB9764-C79A-499C-9E7C-12977665C745}"/>
              </a:ext>
            </a:extLst>
          </p:cNvPr>
          <p:cNvCxnSpPr>
            <a:cxnSpLocks/>
          </p:cNvCxnSpPr>
          <p:nvPr/>
        </p:nvCxnSpPr>
        <p:spPr>
          <a:xfrm>
            <a:off x="6734672" y="2616726"/>
            <a:ext cx="1133374" cy="1648"/>
          </a:xfrm>
          <a:prstGeom prst="line">
            <a:avLst/>
          </a:prstGeom>
          <a:ln w="952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48DD63F-B673-487A-B348-C911EA8ED0F7}"/>
              </a:ext>
            </a:extLst>
          </p:cNvPr>
          <p:cNvSpPr/>
          <p:nvPr/>
        </p:nvSpPr>
        <p:spPr>
          <a:xfrm>
            <a:off x="862280" y="2379845"/>
            <a:ext cx="5962124" cy="91270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Rectangle 100">
            <a:extLst>
              <a:ext uri="{FF2B5EF4-FFF2-40B4-BE49-F238E27FC236}">
                <a16:creationId xmlns:a16="http://schemas.microsoft.com/office/drawing/2014/main" id="{D715DBE2-CA5D-4014-9841-5D3F9C4AF023}"/>
              </a:ext>
            </a:extLst>
          </p:cNvPr>
          <p:cNvSpPr/>
          <p:nvPr/>
        </p:nvSpPr>
        <p:spPr>
          <a:xfrm>
            <a:off x="668306" y="2073296"/>
            <a:ext cx="1799297" cy="24612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和记电信业务</a:t>
            </a:r>
            <a:endParaRPr lang="en-US" sz="10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Rectangle 100">
            <a:extLst>
              <a:ext uri="{FF2B5EF4-FFF2-40B4-BE49-F238E27FC236}">
                <a16:creationId xmlns:a16="http://schemas.microsoft.com/office/drawing/2014/main" id="{D715DBE2-CA5D-4014-9841-5D3F9C4AF023}"/>
              </a:ext>
            </a:extLst>
          </p:cNvPr>
          <p:cNvSpPr/>
          <p:nvPr/>
        </p:nvSpPr>
        <p:spPr>
          <a:xfrm>
            <a:off x="9730828" y="2065837"/>
            <a:ext cx="1799297" cy="24612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80833"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和记</a:t>
            </a:r>
            <a:r>
              <a:rPr lang="en-US" altLang="zh-CN" sz="10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IOD</a:t>
            </a:r>
            <a:r>
              <a:rPr lang="zh-CN" altLang="en-US" sz="10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业务单元</a:t>
            </a:r>
            <a:endParaRPr lang="en-US" sz="10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Rectangle 107">
            <a:extLst>
              <a:ext uri="{FF2B5EF4-FFF2-40B4-BE49-F238E27FC236}">
                <a16:creationId xmlns:a16="http://schemas.microsoft.com/office/drawing/2014/main" id="{7025961B-B1D2-43A6-A4DC-0775B166136D}"/>
              </a:ext>
            </a:extLst>
          </p:cNvPr>
          <p:cNvSpPr/>
          <p:nvPr/>
        </p:nvSpPr>
        <p:spPr>
          <a:xfrm>
            <a:off x="7456882" y="5542120"/>
            <a:ext cx="1471843" cy="500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34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Hardware and Supply</a:t>
            </a:r>
          </a:p>
          <a:p>
            <a:pPr algn="ctr" defTabSz="914034">
              <a:defRPr/>
            </a:pPr>
            <a:r>
              <a:rPr lang="en-US" altLang="zh-CN" sz="1122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Mark Williams</a:t>
            </a:r>
          </a:p>
        </p:txBody>
      </p:sp>
      <p:cxnSp>
        <p:nvCxnSpPr>
          <p:cNvPr id="102" name="Straight Connector 110">
            <a:extLst>
              <a:ext uri="{FF2B5EF4-FFF2-40B4-BE49-F238E27FC236}">
                <a16:creationId xmlns:a16="http://schemas.microsoft.com/office/drawing/2014/main" id="{5BB3907F-92A9-4F18-9990-CFCA24D8F3F2}"/>
              </a:ext>
            </a:extLst>
          </p:cNvPr>
          <p:cNvCxnSpPr>
            <a:cxnSpLocks/>
          </p:cNvCxnSpPr>
          <p:nvPr/>
        </p:nvCxnSpPr>
        <p:spPr>
          <a:xfrm>
            <a:off x="8051719" y="5330215"/>
            <a:ext cx="0" cy="21190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9">
            <a:extLst>
              <a:ext uri="{FF2B5EF4-FFF2-40B4-BE49-F238E27FC236}">
                <a16:creationId xmlns:a16="http://schemas.microsoft.com/office/drawing/2014/main" id="{752C4FFF-544F-4649-B8C1-386DD5DD4A7A}"/>
              </a:ext>
            </a:extLst>
          </p:cNvPr>
          <p:cNvCxnSpPr>
            <a:cxnSpLocks/>
          </p:cNvCxnSpPr>
          <p:nvPr/>
        </p:nvCxnSpPr>
        <p:spPr>
          <a:xfrm>
            <a:off x="10174711" y="4457269"/>
            <a:ext cx="0" cy="2989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2">
            <a:extLst>
              <a:ext uri="{FF2B5EF4-FFF2-40B4-BE49-F238E27FC236}">
                <a16:creationId xmlns:a16="http://schemas.microsoft.com/office/drawing/2014/main" id="{2894F2FD-178B-44A3-90A3-F02829C9E59D}"/>
              </a:ext>
            </a:extLst>
          </p:cNvPr>
          <p:cNvSpPr/>
          <p:nvPr/>
        </p:nvSpPr>
        <p:spPr>
          <a:xfrm>
            <a:off x="9299336" y="4663763"/>
            <a:ext cx="1771016" cy="6193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33">
              <a:defRPr/>
            </a:pPr>
            <a:endParaRPr lang="en-US" sz="172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1" name="Rectangle 113">
            <a:extLst>
              <a:ext uri="{FF2B5EF4-FFF2-40B4-BE49-F238E27FC236}">
                <a16:creationId xmlns:a16="http://schemas.microsoft.com/office/drawing/2014/main" id="{E48752D3-F25D-4890-B2BA-F518DE150CBE}"/>
              </a:ext>
            </a:extLst>
          </p:cNvPr>
          <p:cNvSpPr/>
          <p:nvPr/>
        </p:nvSpPr>
        <p:spPr>
          <a:xfrm>
            <a:off x="9307563" y="4847041"/>
            <a:ext cx="1726344" cy="26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0833">
              <a:defRPr/>
            </a:pPr>
            <a:r>
              <a:rPr lang="en-US" altLang="zh-CN" sz="1122" b="1" dirty="0">
                <a:solidFill>
                  <a:prstClr val="black"/>
                </a:solidFill>
                <a:latin typeface="Gotham"/>
                <a:ea typeface="等线" panose="02010600030101010101" pitchFamily="2" charset="-122"/>
              </a:rPr>
              <a:t>Technical Team</a:t>
            </a:r>
            <a:endParaRPr lang="en-US" altLang="zh-CN" sz="1122" dirty="0">
              <a:solidFill>
                <a:prstClr val="black"/>
              </a:solidFill>
              <a:latin typeface="Gotham"/>
              <a:ea typeface="等线" panose="02010600030101010101" pitchFamily="2" charset="-122"/>
            </a:endParaRPr>
          </a:p>
        </p:txBody>
      </p:sp>
      <p:sp>
        <p:nvSpPr>
          <p:cNvPr id="2" name="星形: 五角 1">
            <a:extLst>
              <a:ext uri="{FF2B5EF4-FFF2-40B4-BE49-F238E27FC236}">
                <a16:creationId xmlns:a16="http://schemas.microsoft.com/office/drawing/2014/main" id="{F275A734-5547-430A-8D1F-A847C66CD3BA}"/>
              </a:ext>
            </a:extLst>
          </p:cNvPr>
          <p:cNvSpPr/>
          <p:nvPr/>
        </p:nvSpPr>
        <p:spPr>
          <a:xfrm>
            <a:off x="8715203" y="3798083"/>
            <a:ext cx="179930" cy="17993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>
              <a:defRPr/>
            </a:pPr>
            <a:endParaRPr lang="zh-CN" altLang="en-US" sz="1799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星形: 五角 115">
            <a:extLst>
              <a:ext uri="{FF2B5EF4-FFF2-40B4-BE49-F238E27FC236}">
                <a16:creationId xmlns:a16="http://schemas.microsoft.com/office/drawing/2014/main" id="{A8D02726-B38E-44D6-AC13-1D4C92E4921A}"/>
              </a:ext>
            </a:extLst>
          </p:cNvPr>
          <p:cNvSpPr/>
          <p:nvPr/>
        </p:nvSpPr>
        <p:spPr>
          <a:xfrm>
            <a:off x="10902621" y="3837875"/>
            <a:ext cx="179930" cy="17993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>
              <a:defRPr/>
            </a:pPr>
            <a:endParaRPr lang="zh-CN" altLang="en-US" sz="1799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3" name="星形: 五角 122">
            <a:extLst>
              <a:ext uri="{FF2B5EF4-FFF2-40B4-BE49-F238E27FC236}">
                <a16:creationId xmlns:a16="http://schemas.microsoft.com/office/drawing/2014/main" id="{978CFDFE-3A06-4266-B354-F0C215579985}"/>
              </a:ext>
            </a:extLst>
          </p:cNvPr>
          <p:cNvSpPr/>
          <p:nvPr/>
        </p:nvSpPr>
        <p:spPr>
          <a:xfrm>
            <a:off x="6538788" y="2416155"/>
            <a:ext cx="179930" cy="17993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>
              <a:defRPr/>
            </a:pPr>
            <a:endParaRPr lang="zh-CN" altLang="en-US" sz="1799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星形: 五角 123">
            <a:extLst>
              <a:ext uri="{FF2B5EF4-FFF2-40B4-BE49-F238E27FC236}">
                <a16:creationId xmlns:a16="http://schemas.microsoft.com/office/drawing/2014/main" id="{BD65723F-AF71-48CC-AC85-D5571B760220}"/>
              </a:ext>
            </a:extLst>
          </p:cNvPr>
          <p:cNvSpPr/>
          <p:nvPr/>
        </p:nvSpPr>
        <p:spPr>
          <a:xfrm>
            <a:off x="4748652" y="983205"/>
            <a:ext cx="179930" cy="17993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>
              <a:defRPr/>
            </a:pPr>
            <a:endParaRPr lang="zh-CN" altLang="en-US" sz="1799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769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E743082-960C-4DFF-95A3-F40665DDE5D9}"/>
              </a:ext>
            </a:extLst>
          </p:cNvPr>
          <p:cNvCxnSpPr>
            <a:cxnSpLocks/>
          </p:cNvCxnSpPr>
          <p:nvPr/>
        </p:nvCxnSpPr>
        <p:spPr>
          <a:xfrm>
            <a:off x="11453822" y="4178888"/>
            <a:ext cx="0" cy="4042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E67065-CE4F-44DB-A977-2E99449BB682}"/>
              </a:ext>
            </a:extLst>
          </p:cNvPr>
          <p:cNvCxnSpPr>
            <a:cxnSpLocks/>
          </p:cNvCxnSpPr>
          <p:nvPr/>
        </p:nvCxnSpPr>
        <p:spPr>
          <a:xfrm>
            <a:off x="9612028" y="1702934"/>
            <a:ext cx="0" cy="1673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6D4B9B2-415D-471D-B10B-F7A35CFB8667}"/>
              </a:ext>
            </a:extLst>
          </p:cNvPr>
          <p:cNvCxnSpPr>
            <a:cxnSpLocks/>
          </p:cNvCxnSpPr>
          <p:nvPr/>
        </p:nvCxnSpPr>
        <p:spPr>
          <a:xfrm flipH="1">
            <a:off x="9612028" y="3323538"/>
            <a:ext cx="0" cy="4133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8DD46BF-0EBB-4B4A-8CAC-4755243A79B0}"/>
              </a:ext>
            </a:extLst>
          </p:cNvPr>
          <p:cNvCxnSpPr>
            <a:cxnSpLocks/>
          </p:cNvCxnSpPr>
          <p:nvPr/>
        </p:nvCxnSpPr>
        <p:spPr>
          <a:xfrm>
            <a:off x="5804002" y="4169923"/>
            <a:ext cx="0" cy="4319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958A488-EEAC-4FB1-9BD0-C006B661F305}"/>
              </a:ext>
            </a:extLst>
          </p:cNvPr>
          <p:cNvGrpSpPr/>
          <p:nvPr/>
        </p:nvGrpSpPr>
        <p:grpSpPr>
          <a:xfrm>
            <a:off x="5090851" y="5221529"/>
            <a:ext cx="1425117" cy="309964"/>
            <a:chOff x="5468846" y="5256727"/>
            <a:chExt cx="1576317" cy="214117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F4AAA88-E097-46BB-AD13-5A511D7F77B4}"/>
                </a:ext>
              </a:extLst>
            </p:cNvPr>
            <p:cNvCxnSpPr>
              <a:cxnSpLocks/>
            </p:cNvCxnSpPr>
            <p:nvPr/>
          </p:nvCxnSpPr>
          <p:spPr>
            <a:xfrm>
              <a:off x="7045163" y="5351709"/>
              <a:ext cx="0" cy="1191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1ADB052-46C9-443E-9CCA-77F04CD6728E}"/>
                </a:ext>
              </a:extLst>
            </p:cNvPr>
            <p:cNvCxnSpPr>
              <a:cxnSpLocks/>
            </p:cNvCxnSpPr>
            <p:nvPr/>
          </p:nvCxnSpPr>
          <p:spPr>
            <a:xfrm>
              <a:off x="6280777" y="5256727"/>
              <a:ext cx="0" cy="949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D42D470-B133-451E-B600-6CC58005A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8846" y="5351709"/>
              <a:ext cx="157631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62205B0-2262-4888-A9C9-728D21996710}"/>
                </a:ext>
              </a:extLst>
            </p:cNvPr>
            <p:cNvCxnSpPr>
              <a:cxnSpLocks/>
            </p:cNvCxnSpPr>
            <p:nvPr/>
          </p:nvCxnSpPr>
          <p:spPr>
            <a:xfrm>
              <a:off x="5468846" y="5347822"/>
              <a:ext cx="0" cy="1129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0FA8AD0-A978-44B7-AF98-6F8536576518}"/>
              </a:ext>
            </a:extLst>
          </p:cNvPr>
          <p:cNvSpPr/>
          <p:nvPr/>
        </p:nvSpPr>
        <p:spPr>
          <a:xfrm>
            <a:off x="4978000" y="3553082"/>
            <a:ext cx="1652005" cy="618360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D64323-A3DE-4AFA-8546-66F752E1877E}"/>
              </a:ext>
            </a:extLst>
          </p:cNvPr>
          <p:cNvSpPr txBox="1"/>
          <p:nvPr/>
        </p:nvSpPr>
        <p:spPr>
          <a:xfrm>
            <a:off x="5019354" y="3562322"/>
            <a:ext cx="1593080" cy="61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Head of Portfolio, Accessories &amp; Home</a:t>
            </a: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Sasha A.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45C7C5E-D08A-4A53-8862-E44A72793A05}"/>
              </a:ext>
            </a:extLst>
          </p:cNvPr>
          <p:cNvGrpSpPr/>
          <p:nvPr/>
        </p:nvGrpSpPr>
        <p:grpSpPr>
          <a:xfrm>
            <a:off x="8624112" y="1070978"/>
            <a:ext cx="1975832" cy="639830"/>
            <a:chOff x="6351948" y="1655708"/>
            <a:chExt cx="1662656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FDFC53-53C5-4B84-8DD3-DF3FDA429139}"/>
                </a:ext>
              </a:extLst>
            </p:cNvPr>
            <p:cNvSpPr/>
            <p:nvPr/>
          </p:nvSpPr>
          <p:spPr>
            <a:xfrm>
              <a:off x="6351948" y="1655708"/>
              <a:ext cx="1654418" cy="640080"/>
            </a:xfrm>
            <a:prstGeom prst="rect">
              <a:avLst/>
            </a:prstGeom>
            <a:solidFill>
              <a:srgbClr val="FBE5D6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F69C5C-4A4C-4383-8F05-A342D637115B}"/>
                </a:ext>
              </a:extLst>
            </p:cNvPr>
            <p:cNvSpPr txBox="1"/>
            <p:nvPr/>
          </p:nvSpPr>
          <p:spPr>
            <a:xfrm>
              <a:off x="6360186" y="1751144"/>
              <a:ext cx="1654418" cy="461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/>
                  <a:ea typeface="+mn-ea"/>
                  <a:cs typeface="+mn-cs"/>
                </a:rPr>
                <a:t>CEO VodafoneThree</a:t>
              </a:r>
            </a:p>
            <a:p>
              <a:pPr marL="0" marR="0" lvl="0" indent="0" algn="ctr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/>
                  <a:ea typeface="+mn-ea"/>
                  <a:cs typeface="+mn-cs"/>
                </a:rPr>
                <a:t>Max Taylor</a:t>
              </a:r>
              <a:endParaRPr kumimoji="0" lang="en-US" sz="149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A0DEE9B-C3D7-497C-8A61-90A6E6CF7843}"/>
              </a:ext>
            </a:extLst>
          </p:cNvPr>
          <p:cNvSpPr/>
          <p:nvPr/>
        </p:nvSpPr>
        <p:spPr>
          <a:xfrm>
            <a:off x="8631508" y="1863699"/>
            <a:ext cx="1961041" cy="639580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2D9327-85D3-4E0E-9431-D6DF342A8987}"/>
              </a:ext>
            </a:extLst>
          </p:cNvPr>
          <p:cNvSpPr/>
          <p:nvPr/>
        </p:nvSpPr>
        <p:spPr>
          <a:xfrm>
            <a:off x="7086479" y="4583162"/>
            <a:ext cx="1350568" cy="640800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98077-123F-4EB6-B143-4EB8BD3239AD}"/>
              </a:ext>
            </a:extLst>
          </p:cNvPr>
          <p:cNvSpPr/>
          <p:nvPr/>
        </p:nvSpPr>
        <p:spPr>
          <a:xfrm>
            <a:off x="1245361" y="4583162"/>
            <a:ext cx="1800928" cy="640800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9A63FF-1533-46A0-A9E1-90CE9F87B48E}"/>
              </a:ext>
            </a:extLst>
          </p:cNvPr>
          <p:cNvSpPr txBox="1"/>
          <p:nvPr/>
        </p:nvSpPr>
        <p:spPr>
          <a:xfrm>
            <a:off x="8696758" y="1939611"/>
            <a:ext cx="1830541" cy="461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Consumer</a:t>
            </a: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Rob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Winterschladen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7EAFE3-1025-448E-9884-E02735514759}"/>
              </a:ext>
            </a:extLst>
          </p:cNvPr>
          <p:cNvSpPr txBox="1"/>
          <p:nvPr/>
        </p:nvSpPr>
        <p:spPr>
          <a:xfrm>
            <a:off x="7097893" y="4583162"/>
            <a:ext cx="1366695" cy="64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Home Category Manager (IoT)</a:t>
            </a: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TBD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D7DCC6-8104-48BC-96A9-603F7427EF70}"/>
              </a:ext>
            </a:extLst>
          </p:cNvPr>
          <p:cNvSpPr txBox="1"/>
          <p:nvPr/>
        </p:nvSpPr>
        <p:spPr>
          <a:xfrm>
            <a:off x="1341720" y="4583162"/>
            <a:ext cx="1648198" cy="64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Senior Device Manager (Handset, Tablet,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Esim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)</a:t>
            </a: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Brendan Arndt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1EBE36-99E2-4EFF-B645-273B81768AEE}"/>
              </a:ext>
            </a:extLst>
          </p:cNvPr>
          <p:cNvSpPr/>
          <p:nvPr/>
        </p:nvSpPr>
        <p:spPr>
          <a:xfrm>
            <a:off x="2892190" y="5521267"/>
            <a:ext cx="1499817" cy="673014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C38FCB-D309-4531-BFC9-A19A9C2C2A63}"/>
              </a:ext>
            </a:extLst>
          </p:cNvPr>
          <p:cNvSpPr txBox="1"/>
          <p:nvPr/>
        </p:nvSpPr>
        <p:spPr>
          <a:xfrm>
            <a:off x="2903620" y="5534609"/>
            <a:ext cx="1498697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Testing Managers</a:t>
            </a: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Aswin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Sudhakaran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Nicholas Dixon</a:t>
            </a:r>
          </a:p>
        </p:txBody>
      </p:sp>
      <p:sp>
        <p:nvSpPr>
          <p:cNvPr id="51" name="矩形 1">
            <a:extLst>
              <a:ext uri="{FF2B5EF4-FFF2-40B4-BE49-F238E27FC236}">
                <a16:creationId xmlns:a16="http://schemas.microsoft.com/office/drawing/2014/main" id="{DFC2D48A-560F-4BBD-B463-4A9E4AE03CE4}"/>
              </a:ext>
            </a:extLst>
          </p:cNvPr>
          <p:cNvSpPr/>
          <p:nvPr/>
        </p:nvSpPr>
        <p:spPr>
          <a:xfrm>
            <a:off x="7344603" y="1210876"/>
            <a:ext cx="1311066" cy="2615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former VDF UK CEO</a:t>
            </a:r>
          </a:p>
        </p:txBody>
      </p:sp>
      <p:sp>
        <p:nvSpPr>
          <p:cNvPr id="52" name="TextBox 182">
            <a:extLst>
              <a:ext uri="{FF2B5EF4-FFF2-40B4-BE49-F238E27FC236}">
                <a16:creationId xmlns:a16="http://schemas.microsoft.com/office/drawing/2014/main" id="{AC152BEF-BCBB-45E0-826C-FD84C809A2FF}"/>
              </a:ext>
            </a:extLst>
          </p:cNvPr>
          <p:cNvSpPr txBox="1"/>
          <p:nvPr/>
        </p:nvSpPr>
        <p:spPr>
          <a:xfrm>
            <a:off x="1113361" y="131337"/>
            <a:ext cx="10356195" cy="307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kumimoji="1" sz="2000" b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uawei sans" panose="020C0503030203020204"/>
                <a:ea typeface="Microsoft YaHei UI" panose="020B0503020204020204" pitchFamily="34" charset="-122"/>
                <a:cs typeface="Arial" panose="020B0604020202020204" pitchFamily="34" charset="0"/>
                <a:sym typeface="Gotham"/>
              </a:rPr>
              <a:t>英国</a:t>
            </a:r>
            <a:r>
              <a:rPr kumimoji="1" lang="en-US" altLang="zh-CN" sz="19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uawei sans" panose="020C0503030203020204"/>
                <a:ea typeface="Microsoft YaHei UI" panose="020B0503020204020204" pitchFamily="34" charset="-122"/>
                <a:cs typeface="Arial" panose="020B0604020202020204" pitchFamily="34" charset="0"/>
                <a:sym typeface="Gotham"/>
              </a:rPr>
              <a:t>VodafoneThree</a:t>
            </a:r>
            <a:r>
              <a:rPr kumimoji="1" lang="zh-CN" alt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uawei sans" panose="020C0503030203020204"/>
                <a:ea typeface="Microsoft YaHei UI" panose="020B0503020204020204" pitchFamily="34" charset="-122"/>
                <a:cs typeface="Arial" panose="020B0604020202020204" pitchFamily="34" charset="0"/>
                <a:sym typeface="Gotham"/>
              </a:rPr>
              <a:t>客户权利地图（</a:t>
            </a:r>
            <a:r>
              <a:rPr kumimoji="1" lang="en-US" altLang="zh-CN" sz="19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uawei sans" panose="020C0503030203020204"/>
                <a:ea typeface="Microsoft YaHei UI" panose="020B0503020204020204" pitchFamily="34" charset="-122"/>
                <a:cs typeface="Arial" panose="020B0604020202020204" pitchFamily="34" charset="0"/>
                <a:sym typeface="Gotham"/>
              </a:rPr>
              <a:t>2026.7 </a:t>
            </a:r>
            <a:r>
              <a:rPr kumimoji="1" lang="zh-CN" alt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uawei sans" panose="020C0503030203020204"/>
                <a:ea typeface="Microsoft YaHei UI" panose="020B0503020204020204" pitchFamily="34" charset="-122"/>
                <a:cs typeface="Arial" panose="020B0604020202020204" pitchFamily="34" charset="0"/>
                <a:sym typeface="Gotham"/>
              </a:rPr>
              <a:t>更新）</a:t>
            </a:r>
            <a:endParaRPr kumimoji="1" lang="en-US" sz="1999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huawei sans" panose="020C0503030203020204"/>
              <a:ea typeface="Microsoft YaHei UI" panose="020B0503020204020204" pitchFamily="34" charset="-122"/>
              <a:cs typeface="Arial" panose="020B0604020202020204" pitchFamily="34" charset="0"/>
              <a:sym typeface="Gotham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C1DF61-C8D4-40D6-BAFF-A3607460DA0B}"/>
              </a:ext>
            </a:extLst>
          </p:cNvPr>
          <p:cNvSpPr/>
          <p:nvPr/>
        </p:nvSpPr>
        <p:spPr>
          <a:xfrm>
            <a:off x="8628612" y="2683958"/>
            <a:ext cx="1966833" cy="639580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3F4095-B0C5-4311-974D-416F41A6EE4F}"/>
              </a:ext>
            </a:extLst>
          </p:cNvPr>
          <p:cNvSpPr txBox="1"/>
          <p:nvPr/>
        </p:nvSpPr>
        <p:spPr>
          <a:xfrm>
            <a:off x="8628233" y="2772644"/>
            <a:ext cx="1967590" cy="461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Head of Device</a:t>
            </a:r>
          </a:p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H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orace Francis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60" name="矩形 58">
            <a:extLst>
              <a:ext uri="{FF2B5EF4-FFF2-40B4-BE49-F238E27FC236}">
                <a16:creationId xmlns:a16="http://schemas.microsoft.com/office/drawing/2014/main" id="{3733FF81-83A8-43C7-8F3E-81C2F5F762A3}"/>
              </a:ext>
            </a:extLst>
          </p:cNvPr>
          <p:cNvSpPr/>
          <p:nvPr/>
        </p:nvSpPr>
        <p:spPr>
          <a:xfrm>
            <a:off x="7209684" y="2597669"/>
            <a:ext cx="145451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former VDF UK Device Operation Director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B555393-EF10-4A43-8463-5AF95D2A58A3}"/>
              </a:ext>
            </a:extLst>
          </p:cNvPr>
          <p:cNvSpPr/>
          <p:nvPr/>
        </p:nvSpPr>
        <p:spPr>
          <a:xfrm>
            <a:off x="1524316" y="5521174"/>
            <a:ext cx="1274328" cy="673200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8B6873-65A3-4F34-AA4A-F6C6936B6A9A}"/>
              </a:ext>
            </a:extLst>
          </p:cNvPr>
          <p:cNvSpPr txBox="1"/>
          <p:nvPr/>
        </p:nvSpPr>
        <p:spPr>
          <a:xfrm>
            <a:off x="1531670" y="5627122"/>
            <a:ext cx="1252912" cy="461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Device Executive</a:t>
            </a:r>
          </a:p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Amiee Mcleod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3C3281-A6B5-4D2E-A0B8-97C10068BBF1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2161481" y="5223962"/>
            <a:ext cx="4338" cy="282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ACF744B-7B4C-4AE9-9C4C-1C6509851C48}"/>
              </a:ext>
            </a:extLst>
          </p:cNvPr>
          <p:cNvCxnSpPr>
            <a:cxnSpLocks/>
          </p:cNvCxnSpPr>
          <p:nvPr/>
        </p:nvCxnSpPr>
        <p:spPr>
          <a:xfrm>
            <a:off x="833814" y="5398568"/>
            <a:ext cx="28079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2E0868D-5C39-4CCB-9664-294246E7F4C1}"/>
              </a:ext>
            </a:extLst>
          </p:cNvPr>
          <p:cNvCxnSpPr>
            <a:cxnSpLocks/>
          </p:cNvCxnSpPr>
          <p:nvPr/>
        </p:nvCxnSpPr>
        <p:spPr>
          <a:xfrm>
            <a:off x="3639155" y="5401418"/>
            <a:ext cx="0" cy="115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A92F69E-B183-4B88-840D-43776363518C}"/>
              </a:ext>
            </a:extLst>
          </p:cNvPr>
          <p:cNvCxnSpPr>
            <a:cxnSpLocks/>
          </p:cNvCxnSpPr>
          <p:nvPr/>
        </p:nvCxnSpPr>
        <p:spPr>
          <a:xfrm>
            <a:off x="833814" y="5404075"/>
            <a:ext cx="0" cy="115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C51118B-94E2-4F22-A047-B5A0124CED5E}"/>
              </a:ext>
            </a:extLst>
          </p:cNvPr>
          <p:cNvCxnSpPr>
            <a:cxnSpLocks/>
          </p:cNvCxnSpPr>
          <p:nvPr/>
        </p:nvCxnSpPr>
        <p:spPr>
          <a:xfrm>
            <a:off x="9612028" y="2505472"/>
            <a:ext cx="0" cy="1673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727CD9-5350-4D3A-9FCB-ED7F75033B46}"/>
              </a:ext>
            </a:extLst>
          </p:cNvPr>
          <p:cNvSpPr/>
          <p:nvPr/>
        </p:nvSpPr>
        <p:spPr>
          <a:xfrm>
            <a:off x="4794081" y="4583161"/>
            <a:ext cx="2134071" cy="640800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C4A6E93-C281-41FE-89AA-57A855A2F751}"/>
              </a:ext>
            </a:extLst>
          </p:cNvPr>
          <p:cNvSpPr txBox="1"/>
          <p:nvPr/>
        </p:nvSpPr>
        <p:spPr>
          <a:xfrm>
            <a:off x="4814257" y="4594381"/>
            <a:ext cx="2160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Senior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Accessories Manager (Wearable, Audio, etc.)</a:t>
            </a:r>
          </a:p>
          <a:p>
            <a:pPr marL="0" marR="0" lvl="0" indent="0" algn="ctr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Austen Gillon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952D96C-DB19-457D-9B90-69623F77B7FB}"/>
              </a:ext>
            </a:extLst>
          </p:cNvPr>
          <p:cNvGrpSpPr/>
          <p:nvPr/>
        </p:nvGrpSpPr>
        <p:grpSpPr>
          <a:xfrm>
            <a:off x="2156966" y="4307392"/>
            <a:ext cx="5613266" cy="287395"/>
            <a:chOff x="5468846" y="5347822"/>
            <a:chExt cx="1576317" cy="123022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9D6EB7F-AACB-4610-88E3-0B9E2E8E6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8846" y="5351709"/>
              <a:ext cx="157631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6209CAE-886D-4C97-A541-ECAC10520A89}"/>
                </a:ext>
              </a:extLst>
            </p:cNvPr>
            <p:cNvCxnSpPr>
              <a:cxnSpLocks/>
            </p:cNvCxnSpPr>
            <p:nvPr/>
          </p:nvCxnSpPr>
          <p:spPr>
            <a:xfrm>
              <a:off x="7045163" y="5351709"/>
              <a:ext cx="0" cy="1191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4CB323C-4A10-4768-9C31-076104E4876E}"/>
                </a:ext>
              </a:extLst>
            </p:cNvPr>
            <p:cNvCxnSpPr>
              <a:cxnSpLocks/>
            </p:cNvCxnSpPr>
            <p:nvPr/>
          </p:nvCxnSpPr>
          <p:spPr>
            <a:xfrm>
              <a:off x="5468846" y="5347822"/>
              <a:ext cx="0" cy="1129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8" name="矩形 58">
            <a:extLst>
              <a:ext uri="{FF2B5EF4-FFF2-40B4-BE49-F238E27FC236}">
                <a16:creationId xmlns:a16="http://schemas.microsoft.com/office/drawing/2014/main" id="{5E636CED-D365-469E-AE93-B9AF1FDA4E72}"/>
              </a:ext>
            </a:extLst>
          </p:cNvPr>
          <p:cNvSpPr/>
          <p:nvPr/>
        </p:nvSpPr>
        <p:spPr>
          <a:xfrm>
            <a:off x="7326835" y="1998052"/>
            <a:ext cx="1346603" cy="430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former VDF UK Consumer Director</a:t>
            </a:r>
          </a:p>
        </p:txBody>
      </p:sp>
      <p:sp>
        <p:nvSpPr>
          <p:cNvPr id="139" name="矩形 58">
            <a:extLst>
              <a:ext uri="{FF2B5EF4-FFF2-40B4-BE49-F238E27FC236}">
                <a16:creationId xmlns:a16="http://schemas.microsoft.com/office/drawing/2014/main" id="{2E2C6C8E-00F0-4805-B975-42C530DE8FC0}"/>
              </a:ext>
            </a:extLst>
          </p:cNvPr>
          <p:cNvSpPr/>
          <p:nvPr/>
        </p:nvSpPr>
        <p:spPr>
          <a:xfrm>
            <a:off x="3566941" y="3530199"/>
            <a:ext cx="146185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former VDF Head of Device</a:t>
            </a:r>
          </a:p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目前准入决策人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huawei sans" panose="020C0503030203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56E72EA-B75F-4A5E-B231-D806B66C36BB}"/>
              </a:ext>
            </a:extLst>
          </p:cNvPr>
          <p:cNvSpPr/>
          <p:nvPr/>
        </p:nvSpPr>
        <p:spPr>
          <a:xfrm>
            <a:off x="5860477" y="5516381"/>
            <a:ext cx="1192018" cy="682358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4D9C5E-A115-4248-B4A2-6E3DEB974A25}"/>
              </a:ext>
            </a:extLst>
          </p:cNvPr>
          <p:cNvSpPr txBox="1"/>
          <p:nvPr/>
        </p:nvSpPr>
        <p:spPr>
          <a:xfrm>
            <a:off x="5803409" y="5552345"/>
            <a:ext cx="1374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Commercial Manager </a:t>
            </a: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Erynn Lester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449787E-3B40-4E43-8672-1BF55A83A59D}"/>
              </a:ext>
            </a:extLst>
          </p:cNvPr>
          <p:cNvSpPr/>
          <p:nvPr/>
        </p:nvSpPr>
        <p:spPr>
          <a:xfrm>
            <a:off x="4477707" y="5516811"/>
            <a:ext cx="1296110" cy="681927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11F4F2-1F0B-43EF-B6C3-4D2830B1E5D4}"/>
              </a:ext>
            </a:extLst>
          </p:cNvPr>
          <p:cNvSpPr txBox="1"/>
          <p:nvPr/>
        </p:nvSpPr>
        <p:spPr>
          <a:xfrm>
            <a:off x="4384932" y="5544705"/>
            <a:ext cx="1474611" cy="64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Lead Category Manager – Digital</a:t>
            </a:r>
          </a:p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Agata Cook </a:t>
            </a:r>
          </a:p>
        </p:txBody>
      </p:sp>
      <p:sp>
        <p:nvSpPr>
          <p:cNvPr id="84" name="矩形 58">
            <a:extLst>
              <a:ext uri="{FF2B5EF4-FFF2-40B4-BE49-F238E27FC236}">
                <a16:creationId xmlns:a16="http://schemas.microsoft.com/office/drawing/2014/main" id="{A803756D-23B5-488A-8D82-01A59A3A56F7}"/>
              </a:ext>
            </a:extLst>
          </p:cNvPr>
          <p:cNvSpPr/>
          <p:nvPr/>
        </p:nvSpPr>
        <p:spPr>
          <a:xfrm>
            <a:off x="617307" y="1229170"/>
            <a:ext cx="1093547" cy="260442"/>
          </a:xfrm>
          <a:prstGeom prst="rect">
            <a:avLst/>
          </a:prstGeom>
          <a:solidFill>
            <a:srgbClr val="FBE5D6"/>
          </a:solidFill>
        </p:spPr>
        <p:txBody>
          <a:bodyPr wrap="square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原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VDF UK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团队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0CE1C00-BAD1-4519-9935-6B48BCF15FA3}"/>
              </a:ext>
            </a:extLst>
          </p:cNvPr>
          <p:cNvSpPr/>
          <p:nvPr/>
        </p:nvSpPr>
        <p:spPr>
          <a:xfrm>
            <a:off x="10779036" y="3542472"/>
            <a:ext cx="1349573" cy="639580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F7DD33-1FC8-44B2-B035-3F201D3157FC}"/>
              </a:ext>
            </a:extLst>
          </p:cNvPr>
          <p:cNvSpPr txBox="1"/>
          <p:nvPr/>
        </p:nvSpPr>
        <p:spPr>
          <a:xfrm>
            <a:off x="10785686" y="3558620"/>
            <a:ext cx="1328400" cy="61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Head of S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upply &amp; Planning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usan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F4ACE3-CC84-464F-A801-D395DF38A4B2}"/>
              </a:ext>
            </a:extLst>
          </p:cNvPr>
          <p:cNvSpPr/>
          <p:nvPr/>
        </p:nvSpPr>
        <p:spPr>
          <a:xfrm>
            <a:off x="10785686" y="4583162"/>
            <a:ext cx="1328400" cy="640800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4B1F8D-30E7-4BED-8FFA-BDE01D0D4F45}"/>
              </a:ext>
            </a:extLst>
          </p:cNvPr>
          <p:cNvSpPr txBox="1"/>
          <p:nvPr/>
        </p:nvSpPr>
        <p:spPr>
          <a:xfrm>
            <a:off x="10783012" y="4583162"/>
            <a:ext cx="1328400" cy="64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S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upply Chain Manager-Lead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D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ani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6F0F91E-6BF6-4848-89A5-D6B14436699E}"/>
              </a:ext>
            </a:extLst>
          </p:cNvPr>
          <p:cNvSpPr/>
          <p:nvPr/>
        </p:nvSpPr>
        <p:spPr>
          <a:xfrm>
            <a:off x="10785686" y="5508448"/>
            <a:ext cx="1328400" cy="673200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F7B8CCF-2D4E-4B52-A9B4-B573826B03B0}"/>
              </a:ext>
            </a:extLst>
          </p:cNvPr>
          <p:cNvSpPr txBox="1"/>
          <p:nvPr/>
        </p:nvSpPr>
        <p:spPr>
          <a:xfrm>
            <a:off x="10783012" y="5510114"/>
            <a:ext cx="1328400" cy="673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S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upply Chain Executive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hana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B753663-0D93-41BB-A7C7-9BA8B8D1B7BF}"/>
              </a:ext>
            </a:extLst>
          </p:cNvPr>
          <p:cNvGrpSpPr/>
          <p:nvPr/>
        </p:nvGrpSpPr>
        <p:grpSpPr>
          <a:xfrm>
            <a:off x="10590154" y="3003747"/>
            <a:ext cx="879409" cy="532389"/>
            <a:chOff x="6454874" y="5349684"/>
            <a:chExt cx="590289" cy="121160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A205B01-AB44-4FAA-A1F2-7BE9CF45C179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>
              <a:off x="6454874" y="5349684"/>
              <a:ext cx="590284" cy="20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F0F35A8-C1FC-4F06-BD87-BE88A8611A62}"/>
                </a:ext>
              </a:extLst>
            </p:cNvPr>
            <p:cNvCxnSpPr>
              <a:cxnSpLocks/>
            </p:cNvCxnSpPr>
            <p:nvPr/>
          </p:nvCxnSpPr>
          <p:spPr>
            <a:xfrm>
              <a:off x="7045163" y="5351709"/>
              <a:ext cx="0" cy="1191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5862A42-D1D5-48E1-A6CA-3CF9AF4B9C3F}"/>
              </a:ext>
            </a:extLst>
          </p:cNvPr>
          <p:cNvCxnSpPr>
            <a:cxnSpLocks/>
          </p:cNvCxnSpPr>
          <p:nvPr/>
        </p:nvCxnSpPr>
        <p:spPr>
          <a:xfrm flipH="1">
            <a:off x="11453822" y="5231468"/>
            <a:ext cx="4813" cy="278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C3C93761-2C59-4E2C-98D2-EB543C4F8E7F}"/>
              </a:ext>
            </a:extLst>
          </p:cNvPr>
          <p:cNvSpPr/>
          <p:nvPr/>
        </p:nvSpPr>
        <p:spPr>
          <a:xfrm>
            <a:off x="218198" y="5521174"/>
            <a:ext cx="1200482" cy="673200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BB46CEA-4EDC-47D4-AB9F-D266BB99167B}"/>
              </a:ext>
            </a:extLst>
          </p:cNvPr>
          <p:cNvSpPr txBox="1"/>
          <p:nvPr/>
        </p:nvSpPr>
        <p:spPr>
          <a:xfrm>
            <a:off x="174165" y="5626727"/>
            <a:ext cx="127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Device M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anager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Hakan Bozkurt</a:t>
            </a:r>
          </a:p>
        </p:txBody>
      </p:sp>
      <p:sp>
        <p:nvSpPr>
          <p:cNvPr id="93" name="矩形 58">
            <a:extLst>
              <a:ext uri="{FF2B5EF4-FFF2-40B4-BE49-F238E27FC236}">
                <a16:creationId xmlns:a16="http://schemas.microsoft.com/office/drawing/2014/main" id="{383BDDF0-4B98-4840-A78D-939D939DD4A5}"/>
              </a:ext>
            </a:extLst>
          </p:cNvPr>
          <p:cNvSpPr/>
          <p:nvPr/>
        </p:nvSpPr>
        <p:spPr>
          <a:xfrm>
            <a:off x="623327" y="1503233"/>
            <a:ext cx="1093546" cy="261610"/>
          </a:xfrm>
          <a:prstGeom prst="rect">
            <a:avLst/>
          </a:prstGeom>
          <a:solidFill>
            <a:srgbClr val="DAE3F3"/>
          </a:solidFill>
        </p:spPr>
        <p:txBody>
          <a:bodyPr wrap="square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原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3 UK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团队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75FF0C5-D8C1-42E2-8708-6BC461E444F3}"/>
              </a:ext>
            </a:extLst>
          </p:cNvPr>
          <p:cNvCxnSpPr>
            <a:cxnSpLocks/>
          </p:cNvCxnSpPr>
          <p:nvPr/>
        </p:nvCxnSpPr>
        <p:spPr>
          <a:xfrm>
            <a:off x="5786418" y="3043050"/>
            <a:ext cx="28217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AA5AFF1-E8D4-45AC-B37B-121875950602}"/>
              </a:ext>
            </a:extLst>
          </p:cNvPr>
          <p:cNvCxnSpPr>
            <a:cxnSpLocks/>
          </p:cNvCxnSpPr>
          <p:nvPr/>
        </p:nvCxnSpPr>
        <p:spPr>
          <a:xfrm>
            <a:off x="5786418" y="3053785"/>
            <a:ext cx="0" cy="508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FF715C61-F0F3-4769-B99E-58EC59162489}"/>
              </a:ext>
            </a:extLst>
          </p:cNvPr>
          <p:cNvSpPr/>
          <p:nvPr/>
        </p:nvSpPr>
        <p:spPr>
          <a:xfrm>
            <a:off x="8628612" y="3555838"/>
            <a:ext cx="1966832" cy="619200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BEFC929-86B8-425C-9998-5DB5121CAA10}"/>
              </a:ext>
            </a:extLst>
          </p:cNvPr>
          <p:cNvSpPr txBox="1"/>
          <p:nvPr/>
        </p:nvSpPr>
        <p:spPr>
          <a:xfrm>
            <a:off x="8569499" y="3549338"/>
            <a:ext cx="2085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Head of Vendor Management and Commercial Strategy </a:t>
            </a: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Daniel Halsey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98A2DBB-B616-4A5F-B7CD-392426BB6C2B}"/>
              </a:ext>
            </a:extLst>
          </p:cNvPr>
          <p:cNvSpPr/>
          <p:nvPr/>
        </p:nvSpPr>
        <p:spPr>
          <a:xfrm>
            <a:off x="8629512" y="4583162"/>
            <a:ext cx="1965033" cy="640800"/>
          </a:xfrm>
          <a:prstGeom prst="rect">
            <a:avLst/>
          </a:prstGeom>
          <a:solidFill>
            <a:srgbClr val="DAE3F3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/>
              <a:ea typeface="+mn-ea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67C2EBB-1BD5-41A0-AAEA-078D2580F2C0}"/>
              </a:ext>
            </a:extLst>
          </p:cNvPr>
          <p:cNvSpPr txBox="1"/>
          <p:nvPr/>
        </p:nvSpPr>
        <p:spPr>
          <a:xfrm>
            <a:off x="8531788" y="4572695"/>
            <a:ext cx="216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Commercial Vendor Managers –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challenging Brands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 </a:t>
            </a:r>
          </a:p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+mn-ea"/>
                <a:cs typeface="+mn-cs"/>
              </a:rPr>
              <a:t>Andy Streeton</a:t>
            </a:r>
          </a:p>
        </p:txBody>
      </p:sp>
      <p:sp>
        <p:nvSpPr>
          <p:cNvPr id="99" name="矩形 58">
            <a:extLst>
              <a:ext uri="{FF2B5EF4-FFF2-40B4-BE49-F238E27FC236}">
                <a16:creationId xmlns:a16="http://schemas.microsoft.com/office/drawing/2014/main" id="{C0160E91-418A-4846-805A-63DDD442807F}"/>
              </a:ext>
            </a:extLst>
          </p:cNvPr>
          <p:cNvSpPr/>
          <p:nvPr/>
        </p:nvSpPr>
        <p:spPr>
          <a:xfrm>
            <a:off x="7023582" y="3553871"/>
            <a:ext cx="159307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former 3UK Head of Device</a:t>
            </a:r>
          </a:p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uawei sans" panose="020C0503030203020204"/>
                <a:ea typeface="等线" panose="02010600030101010101" pitchFamily="2" charset="-122"/>
                <a:cs typeface="+mn-cs"/>
              </a:rPr>
              <a:t>目前商务谈判决策人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huawei sans" panose="020C0503030203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F91D6DE-157B-4502-BA67-7E6A91931FD6}"/>
              </a:ext>
            </a:extLst>
          </p:cNvPr>
          <p:cNvCxnSpPr>
            <a:cxnSpLocks/>
          </p:cNvCxnSpPr>
          <p:nvPr/>
        </p:nvCxnSpPr>
        <p:spPr>
          <a:xfrm flipH="1">
            <a:off x="9612028" y="4169923"/>
            <a:ext cx="0" cy="4133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861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5712</TotalTime>
  <Words>355</Words>
  <Application>Microsoft Office PowerPoint</Application>
  <PresentationFormat>Widescreen</PresentationFormat>
  <Paragraphs>95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-apple-system</vt:lpstr>
      <vt:lpstr>等线</vt:lpstr>
      <vt:lpstr>Gotham</vt:lpstr>
      <vt:lpstr>huawei sans</vt:lpstr>
      <vt:lpstr>Microsoft YaHei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huangyi (AN)</dc:creator>
  <cp:lastModifiedBy>Kessog Chan</cp:lastModifiedBy>
  <cp:revision>3</cp:revision>
  <dcterms:created xsi:type="dcterms:W3CDTF">2026-07-10T09:40:19Z</dcterms:created>
  <dcterms:modified xsi:type="dcterms:W3CDTF">2026-07-14T09:30:22Z</dcterms:modified>
</cp:coreProperties>
</file>